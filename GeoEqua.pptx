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aleway"/>
      <p:regular r:id="rId13"/>
      <p:bold r:id="rId14"/>
      <p:italic r:id="rId15"/>
      <p:boldItalic r:id="rId16"/>
    </p:embeddedFont>
    <p:embeddedFont>
      <p:font typeface="La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aleway-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italic.fntdata"/><Relationship Id="rId14" Type="http://schemas.openxmlformats.org/officeDocument/2006/relationships/font" Target="fonts/Raleway-bold.fntdata"/><Relationship Id="rId17" Type="http://schemas.openxmlformats.org/officeDocument/2006/relationships/font" Target="fonts/Lato-regular.fntdata"/><Relationship Id="rId16" Type="http://schemas.openxmlformats.org/officeDocument/2006/relationships/font" Target="fonts/Raleway-boldItalic.fntdata"/><Relationship Id="rId5" Type="http://schemas.openxmlformats.org/officeDocument/2006/relationships/notesMaster" Target="notesMasters/notesMaster1.xml"/><Relationship Id="rId19" Type="http://schemas.openxmlformats.org/officeDocument/2006/relationships/font" Target="fonts/Lato-italic.fntdata"/><Relationship Id="rId6" Type="http://schemas.openxmlformats.org/officeDocument/2006/relationships/slide" Target="slides/slide1.xml"/><Relationship Id="rId18"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d3e9d08dc4_0_68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d3e9d08dc4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3e9d08dc4_0_6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d3e9d08dc4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d3e9d08dc4_0_69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d3e9d08dc4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d3e9d08dc4_0_69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d3e9d08dc4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d3e9d08dc4_0_70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d3e9d08dc4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d3e9d08dc4_0_7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d3e9d08dc4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youtu.be/h8v0npSdwc8" TargetMode="External"/><Relationship Id="rId4" Type="http://schemas.openxmlformats.org/officeDocument/2006/relationships/image" Target="../media/image4.png"/><Relationship Id="rId11" Type="http://schemas.openxmlformats.org/officeDocument/2006/relationships/hyperlink" Target="https://unstats.un.org/sdgs/dataportal/database" TargetMode="External"/><Relationship Id="rId10" Type="http://schemas.openxmlformats.org/officeDocument/2006/relationships/hyperlink" Target="https://www.unwomen.org/en" TargetMode="External"/><Relationship Id="rId9" Type="http://schemas.openxmlformats.org/officeDocument/2006/relationships/hyperlink" Target="https://sdgs.un.org/goals" TargetMode="External"/><Relationship Id="rId5" Type="http://schemas.openxmlformats.org/officeDocument/2006/relationships/hyperlink" Target="https://geoequa.vercel.app/" TargetMode="External"/><Relationship Id="rId6" Type="http://schemas.openxmlformats.org/officeDocument/2006/relationships/hyperlink" Target="https://github.com/macaris64/geoequa" TargetMode="External"/><Relationship Id="rId7" Type="http://schemas.openxmlformats.org/officeDocument/2006/relationships/hyperlink" Target="https://sedac.ciesin.columbia.edu/" TargetMode="External"/><Relationship Id="rId8" Type="http://schemas.openxmlformats.org/officeDocument/2006/relationships/hyperlink" Target="https://search.earthdata.nasa.gov/"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625" y="2300200"/>
            <a:ext cx="7688100" cy="799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latin typeface="Arial"/>
                <a:ea typeface="Arial"/>
                <a:cs typeface="Arial"/>
                <a:sym typeface="Arial"/>
              </a:rPr>
              <a:t>GeoEqua</a:t>
            </a:r>
            <a:endParaRPr>
              <a:latin typeface="Arial"/>
              <a:ea typeface="Arial"/>
              <a:cs typeface="Arial"/>
              <a:sym typeface="Arial"/>
            </a:endParaRPr>
          </a:p>
        </p:txBody>
      </p:sp>
      <p:sp>
        <p:nvSpPr>
          <p:cNvPr id="87" name="Google Shape;87;p13"/>
          <p:cNvSpPr txBox="1"/>
          <p:nvPr>
            <p:ph idx="1" type="subTitle"/>
          </p:nvPr>
        </p:nvSpPr>
        <p:spPr>
          <a:xfrm>
            <a:off x="679352" y="429455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a:latin typeface="Arial"/>
                <a:ea typeface="Arial"/>
                <a:cs typeface="Arial"/>
                <a:sym typeface="Arial"/>
              </a:rPr>
              <a:t>Mehmet Acar - Yeşim Acar</a:t>
            </a:r>
            <a:endParaRPr b="1">
              <a:latin typeface="Arial"/>
              <a:ea typeface="Arial"/>
              <a:cs typeface="Arial"/>
              <a:sym typeface="Arial"/>
            </a:endParaRPr>
          </a:p>
        </p:txBody>
      </p:sp>
      <p:pic>
        <p:nvPicPr>
          <p:cNvPr id="88" name="Google Shape;88;p13"/>
          <p:cNvPicPr preferRelativeResize="0"/>
          <p:nvPr/>
        </p:nvPicPr>
        <p:blipFill>
          <a:blip r:embed="rId3">
            <a:alphaModFix/>
          </a:blip>
          <a:stretch>
            <a:fillRect/>
          </a:stretch>
        </p:blipFill>
        <p:spPr>
          <a:xfrm>
            <a:off x="7671825" y="497100"/>
            <a:ext cx="1436824" cy="1436824"/>
          </a:xfrm>
          <a:prstGeom prst="rect">
            <a:avLst/>
          </a:prstGeom>
          <a:noFill/>
          <a:ln>
            <a:noFill/>
          </a:ln>
        </p:spPr>
      </p:pic>
      <p:pic>
        <p:nvPicPr>
          <p:cNvPr id="89" name="Google Shape;89;p13"/>
          <p:cNvPicPr preferRelativeResize="0"/>
          <p:nvPr/>
        </p:nvPicPr>
        <p:blipFill>
          <a:blip r:embed="rId4">
            <a:alphaModFix/>
          </a:blip>
          <a:stretch>
            <a:fillRect/>
          </a:stretch>
        </p:blipFill>
        <p:spPr>
          <a:xfrm>
            <a:off x="6065450" y="497099"/>
            <a:ext cx="1473450" cy="1473450"/>
          </a:xfrm>
          <a:prstGeom prst="rect">
            <a:avLst/>
          </a:prstGeom>
          <a:noFill/>
          <a:ln>
            <a:noFill/>
          </a:ln>
        </p:spPr>
      </p:pic>
      <p:sp>
        <p:nvSpPr>
          <p:cNvPr id="90" name="Google Shape;90;p13"/>
          <p:cNvSpPr txBox="1"/>
          <p:nvPr>
            <p:ph type="ctrTitle"/>
          </p:nvPr>
        </p:nvSpPr>
        <p:spPr>
          <a:xfrm>
            <a:off x="6707150" y="4382650"/>
            <a:ext cx="2401500" cy="79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000">
                <a:latin typeface="Arial"/>
                <a:ea typeface="Arial"/>
                <a:cs typeface="Arial"/>
                <a:sym typeface="Arial"/>
              </a:rPr>
              <a:t>NASA Space Apps ‘24</a:t>
            </a:r>
            <a:endParaRPr sz="1000">
              <a:latin typeface="Arial"/>
              <a:ea typeface="Arial"/>
              <a:cs typeface="Arial"/>
              <a:sym typeface="Arial"/>
            </a:endParaRPr>
          </a:p>
          <a:p>
            <a:pPr indent="0" lvl="0" marL="0" rtl="0" algn="l">
              <a:spcBef>
                <a:spcPts val="0"/>
              </a:spcBef>
              <a:spcAft>
                <a:spcPts val="0"/>
              </a:spcAft>
              <a:buNone/>
            </a:pPr>
            <a:r>
              <a:rPr lang="tr" sz="1000">
                <a:latin typeface="Arial"/>
                <a:ea typeface="Arial"/>
                <a:cs typeface="Arial"/>
                <a:sym typeface="Arial"/>
              </a:rPr>
              <a:t>Gender and Climate Challenge</a:t>
            </a:r>
            <a:endParaRPr sz="10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4020">
                <a:latin typeface="Arial"/>
                <a:ea typeface="Arial"/>
                <a:cs typeface="Arial"/>
                <a:sym typeface="Arial"/>
              </a:rPr>
              <a:t>GeoEqua</a:t>
            </a:r>
            <a:endParaRPr sz="4020">
              <a:latin typeface="Arial"/>
              <a:ea typeface="Arial"/>
              <a:cs typeface="Arial"/>
              <a:sym typeface="Arial"/>
            </a:endParaRPr>
          </a:p>
        </p:txBody>
      </p:sp>
      <p:sp>
        <p:nvSpPr>
          <p:cNvPr id="96" name="Google Shape;96;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0"/>
              </a:spcAft>
              <a:buNone/>
            </a:pPr>
            <a:r>
              <a:t/>
            </a:r>
            <a:endParaRPr sz="2500"/>
          </a:p>
          <a:p>
            <a:pPr indent="0" lvl="0" marL="0" rtl="0" algn="l">
              <a:spcBef>
                <a:spcPts val="1200"/>
              </a:spcBef>
              <a:spcAft>
                <a:spcPts val="0"/>
              </a:spcAft>
              <a:buNone/>
            </a:pPr>
            <a:r>
              <a:rPr lang="tr" sz="2500">
                <a:latin typeface="Arial"/>
                <a:ea typeface="Arial"/>
                <a:cs typeface="Arial"/>
                <a:sym typeface="Arial"/>
              </a:rPr>
              <a:t>GeoEqua, toplumsal cinsiyet eşitsizliği ve iklim değişikliği arasındaki ilişkiyi analiz eden bir web platformudur.</a:t>
            </a:r>
            <a:endParaRPr sz="2500">
              <a:latin typeface="Arial"/>
              <a:ea typeface="Arial"/>
              <a:cs typeface="Arial"/>
              <a:sym typeface="Arial"/>
            </a:endParaRPr>
          </a:p>
          <a:p>
            <a:pPr indent="0" lvl="0" marL="457200" rtl="0" algn="l">
              <a:spcBef>
                <a:spcPts val="1200"/>
              </a:spcBef>
              <a:spcAft>
                <a:spcPts val="1200"/>
              </a:spcAft>
              <a:buNone/>
            </a:pPr>
            <a:r>
              <a:t/>
            </a:r>
            <a:endParaRPr/>
          </a:p>
        </p:txBody>
      </p:sp>
      <p:pic>
        <p:nvPicPr>
          <p:cNvPr id="97" name="Google Shape;97;p14"/>
          <p:cNvPicPr preferRelativeResize="0"/>
          <p:nvPr/>
        </p:nvPicPr>
        <p:blipFill>
          <a:blip r:embed="rId3">
            <a:alphaModFix/>
          </a:blip>
          <a:stretch>
            <a:fillRect/>
          </a:stretch>
        </p:blipFill>
        <p:spPr>
          <a:xfrm>
            <a:off x="7788800" y="0"/>
            <a:ext cx="1392475" cy="1392475"/>
          </a:xfrm>
          <a:prstGeom prst="rect">
            <a:avLst/>
          </a:prstGeom>
          <a:noFill/>
          <a:ln>
            <a:noFill/>
          </a:ln>
        </p:spPr>
      </p:pic>
      <p:pic>
        <p:nvPicPr>
          <p:cNvPr id="98" name="Google Shape;98;p14"/>
          <p:cNvPicPr preferRelativeResize="0"/>
          <p:nvPr/>
        </p:nvPicPr>
        <p:blipFill>
          <a:blip r:embed="rId4">
            <a:alphaModFix/>
          </a:blip>
          <a:stretch>
            <a:fillRect/>
          </a:stretch>
        </p:blipFill>
        <p:spPr>
          <a:xfrm>
            <a:off x="3295600" y="1"/>
            <a:ext cx="5801974" cy="2470376"/>
          </a:xfrm>
          <a:prstGeom prst="rect">
            <a:avLst/>
          </a:prstGeom>
          <a:noFill/>
          <a:ln>
            <a:noFill/>
          </a:ln>
        </p:spPr>
      </p:pic>
      <p:pic>
        <p:nvPicPr>
          <p:cNvPr id="99" name="Google Shape;99;p14"/>
          <p:cNvPicPr preferRelativeResize="0"/>
          <p:nvPr/>
        </p:nvPicPr>
        <p:blipFill>
          <a:blip r:embed="rId5">
            <a:alphaModFix/>
          </a:blip>
          <a:stretch>
            <a:fillRect/>
          </a:stretch>
        </p:blipFill>
        <p:spPr>
          <a:xfrm>
            <a:off x="5792325" y="3747075"/>
            <a:ext cx="1360935" cy="1094074"/>
          </a:xfrm>
          <a:prstGeom prst="rect">
            <a:avLst/>
          </a:prstGeom>
          <a:noFill/>
          <a:ln>
            <a:noFill/>
          </a:ln>
        </p:spPr>
      </p:pic>
      <p:pic>
        <p:nvPicPr>
          <p:cNvPr id="100" name="Google Shape;100;p14"/>
          <p:cNvPicPr preferRelativeResize="0"/>
          <p:nvPr/>
        </p:nvPicPr>
        <p:blipFill>
          <a:blip r:embed="rId6">
            <a:alphaModFix/>
          </a:blip>
          <a:stretch>
            <a:fillRect/>
          </a:stretch>
        </p:blipFill>
        <p:spPr>
          <a:xfrm>
            <a:off x="7473415" y="3747075"/>
            <a:ext cx="1360935" cy="1094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5"/>
          <p:cNvSpPr txBox="1"/>
          <p:nvPr>
            <p:ph idx="1" type="body"/>
          </p:nvPr>
        </p:nvSpPr>
        <p:spPr>
          <a:xfrm>
            <a:off x="906775" y="4424025"/>
            <a:ext cx="7688700" cy="584400"/>
          </a:xfrm>
          <a:prstGeom prst="rect">
            <a:avLst/>
          </a:prstGeom>
        </p:spPr>
        <p:txBody>
          <a:bodyPr anchorCtr="0" anchor="t" bIns="91425" lIns="91425" spcFirstLastPara="1" rIns="91425" wrap="square" tIns="91425">
            <a:noAutofit/>
          </a:bodyPr>
          <a:lstStyle/>
          <a:p>
            <a:pPr indent="0" lvl="0" marL="457200" rtl="0" algn="l">
              <a:lnSpc>
                <a:spcPct val="95000"/>
              </a:lnSpc>
              <a:spcBef>
                <a:spcPts val="0"/>
              </a:spcBef>
              <a:spcAft>
                <a:spcPts val="0"/>
              </a:spcAft>
              <a:buSzPts val="688"/>
              <a:buNone/>
            </a:pPr>
            <a:r>
              <a:rPr lang="tr" sz="1612">
                <a:latin typeface="Arial"/>
                <a:ea typeface="Arial"/>
                <a:cs typeface="Arial"/>
                <a:sym typeface="Arial"/>
              </a:rPr>
              <a:t>Kullanıcılar ülke ve yaş bazlı verileri grafikler ve tablolar aracılığıyla görüntüleyip, bu iki küresel sorun arasındaki ilişkileri inceleyebilir. </a:t>
            </a:r>
            <a:endParaRPr sz="1612">
              <a:latin typeface="Arial"/>
              <a:ea typeface="Arial"/>
              <a:cs typeface="Arial"/>
              <a:sym typeface="Arial"/>
            </a:endParaRPr>
          </a:p>
          <a:p>
            <a:pPr indent="0" lvl="0" marL="457200" rtl="0" algn="l">
              <a:lnSpc>
                <a:spcPct val="95000"/>
              </a:lnSpc>
              <a:spcBef>
                <a:spcPts val="1200"/>
              </a:spcBef>
              <a:spcAft>
                <a:spcPts val="1200"/>
              </a:spcAft>
              <a:buSzPts val="688"/>
              <a:buNone/>
            </a:pPr>
            <a:r>
              <a:t/>
            </a:r>
            <a:endParaRPr sz="812"/>
          </a:p>
        </p:txBody>
      </p:sp>
      <p:pic>
        <p:nvPicPr>
          <p:cNvPr id="106" name="Google Shape;106;p15"/>
          <p:cNvPicPr preferRelativeResize="0"/>
          <p:nvPr/>
        </p:nvPicPr>
        <p:blipFill>
          <a:blip r:embed="rId3">
            <a:alphaModFix/>
          </a:blip>
          <a:stretch>
            <a:fillRect/>
          </a:stretch>
        </p:blipFill>
        <p:spPr>
          <a:xfrm>
            <a:off x="7788800" y="0"/>
            <a:ext cx="1392475" cy="1392475"/>
          </a:xfrm>
          <a:prstGeom prst="rect">
            <a:avLst/>
          </a:prstGeom>
          <a:noFill/>
          <a:ln>
            <a:noFill/>
          </a:ln>
        </p:spPr>
      </p:pic>
      <p:pic>
        <p:nvPicPr>
          <p:cNvPr id="107" name="Google Shape;107;p15"/>
          <p:cNvPicPr preferRelativeResize="0"/>
          <p:nvPr/>
        </p:nvPicPr>
        <p:blipFill>
          <a:blip r:embed="rId4">
            <a:alphaModFix/>
          </a:blip>
          <a:stretch>
            <a:fillRect/>
          </a:stretch>
        </p:blipFill>
        <p:spPr>
          <a:xfrm>
            <a:off x="766600" y="0"/>
            <a:ext cx="8339000" cy="2907249"/>
          </a:xfrm>
          <a:prstGeom prst="rect">
            <a:avLst/>
          </a:prstGeom>
          <a:noFill/>
          <a:ln>
            <a:noFill/>
          </a:ln>
        </p:spPr>
      </p:pic>
      <p:sp>
        <p:nvSpPr>
          <p:cNvPr id="108" name="Google Shape;108;p15"/>
          <p:cNvSpPr txBox="1"/>
          <p:nvPr>
            <p:ph type="title"/>
          </p:nvPr>
        </p:nvSpPr>
        <p:spPr>
          <a:xfrm>
            <a:off x="766600" y="30789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4020">
                <a:latin typeface="Arial"/>
                <a:ea typeface="Arial"/>
                <a:cs typeface="Arial"/>
                <a:sym typeface="Arial"/>
              </a:rPr>
              <a:t>Veri Görselleştirme ve Etkileşimli Analiz</a:t>
            </a:r>
            <a:endParaRPr sz="4020">
              <a:latin typeface="Arial"/>
              <a:ea typeface="Arial"/>
              <a:cs typeface="Arial"/>
              <a:sym typeface="Arial"/>
            </a:endParaRPr>
          </a:p>
        </p:txBody>
      </p:sp>
      <p:pic>
        <p:nvPicPr>
          <p:cNvPr id="109" name="Google Shape;109;p15"/>
          <p:cNvPicPr preferRelativeResize="0"/>
          <p:nvPr/>
        </p:nvPicPr>
        <p:blipFill>
          <a:blip r:embed="rId5">
            <a:alphaModFix/>
          </a:blip>
          <a:stretch>
            <a:fillRect/>
          </a:stretch>
        </p:blipFill>
        <p:spPr>
          <a:xfrm>
            <a:off x="7572200" y="2969400"/>
            <a:ext cx="1392475" cy="1392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ph type="title"/>
          </p:nvPr>
        </p:nvSpPr>
        <p:spPr>
          <a:xfrm>
            <a:off x="651575" y="531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3020">
                <a:latin typeface="Arial"/>
                <a:ea typeface="Arial"/>
                <a:cs typeface="Arial"/>
                <a:sym typeface="Arial"/>
              </a:rPr>
              <a:t>GeoAI Asistan</a:t>
            </a:r>
            <a:endParaRPr sz="3020">
              <a:latin typeface="Arial"/>
              <a:ea typeface="Arial"/>
              <a:cs typeface="Arial"/>
              <a:sym typeface="Arial"/>
            </a:endParaRPr>
          </a:p>
        </p:txBody>
      </p:sp>
      <p:pic>
        <p:nvPicPr>
          <p:cNvPr id="115" name="Google Shape;115;p16"/>
          <p:cNvPicPr preferRelativeResize="0"/>
          <p:nvPr/>
        </p:nvPicPr>
        <p:blipFill>
          <a:blip r:embed="rId3">
            <a:alphaModFix/>
          </a:blip>
          <a:stretch>
            <a:fillRect/>
          </a:stretch>
        </p:blipFill>
        <p:spPr>
          <a:xfrm>
            <a:off x="3575524" y="1893425"/>
            <a:ext cx="5498752" cy="3176275"/>
          </a:xfrm>
          <a:prstGeom prst="rect">
            <a:avLst/>
          </a:prstGeom>
          <a:noFill/>
          <a:ln>
            <a:noFill/>
          </a:ln>
        </p:spPr>
      </p:pic>
      <p:sp>
        <p:nvSpPr>
          <p:cNvPr id="116" name="Google Shape;116;p16"/>
          <p:cNvSpPr txBox="1"/>
          <p:nvPr>
            <p:ph type="title"/>
          </p:nvPr>
        </p:nvSpPr>
        <p:spPr>
          <a:xfrm>
            <a:off x="727650" y="13054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tr" sz="1520">
                <a:latin typeface="Arial"/>
                <a:ea typeface="Arial"/>
                <a:cs typeface="Arial"/>
                <a:sym typeface="Arial"/>
              </a:rPr>
              <a:t>GeoAI, kullanıcının web arayüzünden seçtiği konunun verilerini yorumlar.</a:t>
            </a:r>
            <a:endParaRPr b="0" sz="1520">
              <a:latin typeface="Arial"/>
              <a:ea typeface="Arial"/>
              <a:cs typeface="Arial"/>
              <a:sym typeface="Arial"/>
            </a:endParaRPr>
          </a:p>
          <a:p>
            <a:pPr indent="0" lvl="0" marL="0" rtl="0" algn="l">
              <a:spcBef>
                <a:spcPts val="0"/>
              </a:spcBef>
              <a:spcAft>
                <a:spcPts val="0"/>
              </a:spcAft>
              <a:buSzPts val="990"/>
              <a:buNone/>
            </a:pPr>
            <a:r>
              <a:t/>
            </a:r>
            <a:endParaRPr sz="3020"/>
          </a:p>
        </p:txBody>
      </p:sp>
      <p:sp>
        <p:nvSpPr>
          <p:cNvPr id="117" name="Google Shape;117;p16"/>
          <p:cNvSpPr txBox="1"/>
          <p:nvPr>
            <p:ph type="title"/>
          </p:nvPr>
        </p:nvSpPr>
        <p:spPr>
          <a:xfrm>
            <a:off x="771500" y="1893425"/>
            <a:ext cx="2757300" cy="311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tr" sz="1520">
                <a:latin typeface="Arial"/>
                <a:ea typeface="Arial"/>
                <a:cs typeface="Arial"/>
                <a:sym typeface="Arial"/>
              </a:rPr>
              <a:t>Kullanıcı, GeoAI ile iklim değişikliği ve toplumsal cinsiyet eşitsizliği konularındaki sorularıyla iletişime geçer. </a:t>
            </a:r>
            <a:endParaRPr b="0" sz="1520">
              <a:latin typeface="Arial"/>
              <a:ea typeface="Arial"/>
              <a:cs typeface="Arial"/>
              <a:sym typeface="Arial"/>
            </a:endParaRPr>
          </a:p>
          <a:p>
            <a:pPr indent="0" lvl="0" marL="0" rtl="0" algn="l">
              <a:spcBef>
                <a:spcPts val="0"/>
              </a:spcBef>
              <a:spcAft>
                <a:spcPts val="0"/>
              </a:spcAft>
              <a:buSzPts val="990"/>
              <a:buNone/>
            </a:pPr>
            <a:r>
              <a:t/>
            </a:r>
            <a:endParaRPr b="0" sz="1520"/>
          </a:p>
          <a:p>
            <a:pPr indent="0" lvl="0" marL="0" rtl="0" algn="l">
              <a:spcBef>
                <a:spcPts val="0"/>
              </a:spcBef>
              <a:spcAft>
                <a:spcPts val="0"/>
              </a:spcAft>
              <a:buSzPts val="990"/>
              <a:buNone/>
            </a:pPr>
            <a:r>
              <a:rPr b="0" lang="tr" sz="1520">
                <a:latin typeface="Arial"/>
                <a:ea typeface="Arial"/>
                <a:cs typeface="Arial"/>
                <a:sym typeface="Arial"/>
              </a:rPr>
              <a:t>Bu iletişim sayesinde kullanıcı sorduğu sorulardan anlamlı sonuçlar elde etmiş olur.</a:t>
            </a:r>
            <a:endParaRPr b="0" sz="1520">
              <a:latin typeface="Arial"/>
              <a:ea typeface="Arial"/>
              <a:cs typeface="Arial"/>
              <a:sym typeface="Arial"/>
            </a:endParaRPr>
          </a:p>
          <a:p>
            <a:pPr indent="0" lvl="0" marL="0" rtl="0" algn="l">
              <a:spcBef>
                <a:spcPts val="0"/>
              </a:spcBef>
              <a:spcAft>
                <a:spcPts val="0"/>
              </a:spcAft>
              <a:buSzPts val="990"/>
              <a:buNone/>
            </a:pPr>
            <a:r>
              <a:t/>
            </a:r>
            <a:endParaRPr b="0" sz="1520"/>
          </a:p>
        </p:txBody>
      </p:sp>
      <p:pic>
        <p:nvPicPr>
          <p:cNvPr id="118" name="Google Shape;118;p16"/>
          <p:cNvPicPr preferRelativeResize="0"/>
          <p:nvPr/>
        </p:nvPicPr>
        <p:blipFill>
          <a:blip r:embed="rId4">
            <a:alphaModFix/>
          </a:blip>
          <a:stretch>
            <a:fillRect/>
          </a:stretch>
        </p:blipFill>
        <p:spPr>
          <a:xfrm>
            <a:off x="7857400" y="531975"/>
            <a:ext cx="1216875" cy="1216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type="title"/>
          </p:nvPr>
        </p:nvSpPr>
        <p:spPr>
          <a:xfrm>
            <a:off x="727650" y="5027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4020">
                <a:latin typeface="Arial"/>
                <a:ea typeface="Arial"/>
                <a:cs typeface="Arial"/>
                <a:sym typeface="Arial"/>
              </a:rPr>
              <a:t>Sürdürülebilir Çözüm Önerileri</a:t>
            </a:r>
            <a:endParaRPr sz="4020">
              <a:latin typeface="Arial"/>
              <a:ea typeface="Arial"/>
              <a:cs typeface="Arial"/>
              <a:sym typeface="Arial"/>
            </a:endParaRPr>
          </a:p>
        </p:txBody>
      </p:sp>
      <p:pic>
        <p:nvPicPr>
          <p:cNvPr id="124" name="Google Shape;124;p17"/>
          <p:cNvPicPr preferRelativeResize="0"/>
          <p:nvPr/>
        </p:nvPicPr>
        <p:blipFill>
          <a:blip r:embed="rId3">
            <a:alphaModFix/>
          </a:blip>
          <a:stretch>
            <a:fillRect/>
          </a:stretch>
        </p:blipFill>
        <p:spPr>
          <a:xfrm>
            <a:off x="69701" y="2571750"/>
            <a:ext cx="4044201" cy="2318301"/>
          </a:xfrm>
          <a:prstGeom prst="rect">
            <a:avLst/>
          </a:prstGeom>
          <a:noFill/>
          <a:ln>
            <a:noFill/>
          </a:ln>
        </p:spPr>
      </p:pic>
      <p:sp>
        <p:nvSpPr>
          <p:cNvPr id="125" name="Google Shape;125;p17"/>
          <p:cNvSpPr txBox="1"/>
          <p:nvPr>
            <p:ph type="title"/>
          </p:nvPr>
        </p:nvSpPr>
        <p:spPr>
          <a:xfrm>
            <a:off x="4371550" y="1862350"/>
            <a:ext cx="4503900" cy="29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tr" sz="2920">
                <a:latin typeface="Arial"/>
                <a:ea typeface="Arial"/>
                <a:cs typeface="Arial"/>
                <a:sym typeface="Arial"/>
              </a:rPr>
              <a:t>GeoEqua, toplumsal cinsiyet eşitsizliği ve iklim değişikliğine dair entegre politikalar geliştirmek için içgörüler sunar.</a:t>
            </a:r>
            <a:endParaRPr b="0" sz="2920">
              <a:latin typeface="Arial"/>
              <a:ea typeface="Arial"/>
              <a:cs typeface="Arial"/>
              <a:sym typeface="Arial"/>
            </a:endParaRPr>
          </a:p>
        </p:txBody>
      </p:sp>
      <p:pic>
        <p:nvPicPr>
          <p:cNvPr id="126" name="Google Shape;126;p17"/>
          <p:cNvPicPr preferRelativeResize="0"/>
          <p:nvPr/>
        </p:nvPicPr>
        <p:blipFill>
          <a:blip r:embed="rId4">
            <a:alphaModFix/>
          </a:blip>
          <a:stretch>
            <a:fillRect/>
          </a:stretch>
        </p:blipFill>
        <p:spPr>
          <a:xfrm>
            <a:off x="8134750" y="1086525"/>
            <a:ext cx="915651" cy="9156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727650" y="5113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3020">
                <a:latin typeface="Arial"/>
                <a:ea typeface="Arial"/>
                <a:cs typeface="Arial"/>
                <a:sym typeface="Arial"/>
              </a:rPr>
              <a:t>Sonuçlar ve Tavsiyeler</a:t>
            </a:r>
            <a:endParaRPr sz="3020">
              <a:latin typeface="Arial"/>
              <a:ea typeface="Arial"/>
              <a:cs typeface="Arial"/>
              <a:sym typeface="Arial"/>
            </a:endParaRPr>
          </a:p>
        </p:txBody>
      </p:sp>
      <p:sp>
        <p:nvSpPr>
          <p:cNvPr id="132" name="Google Shape;132;p18"/>
          <p:cNvSpPr txBox="1"/>
          <p:nvPr>
            <p:ph idx="1" type="body"/>
          </p:nvPr>
        </p:nvSpPr>
        <p:spPr>
          <a:xfrm>
            <a:off x="0" y="1234350"/>
            <a:ext cx="9144000" cy="4188900"/>
          </a:xfrm>
          <a:prstGeom prst="rect">
            <a:avLst/>
          </a:prstGeom>
        </p:spPr>
        <p:txBody>
          <a:bodyPr anchorCtr="0" anchor="t" bIns="91425" lIns="91425" spcFirstLastPara="1" rIns="91425" wrap="square" tIns="91425">
            <a:normAutofit fontScale="62500" lnSpcReduction="20000"/>
          </a:bodyPr>
          <a:lstStyle/>
          <a:p>
            <a:pPr indent="-327818" lvl="0" marL="457200" rtl="0" algn="l">
              <a:spcBef>
                <a:spcPts val="0"/>
              </a:spcBef>
              <a:spcAft>
                <a:spcPts val="0"/>
              </a:spcAft>
              <a:buSzPct val="100000"/>
              <a:buFont typeface="Arial"/>
              <a:buChar char="-"/>
            </a:pPr>
            <a:r>
              <a:rPr lang="tr" sz="2500">
                <a:latin typeface="Arial"/>
                <a:ea typeface="Arial"/>
                <a:cs typeface="Arial"/>
                <a:sym typeface="Arial"/>
              </a:rPr>
              <a:t>Toplumsal cinsiyet eşitliği sağlanmadan sürdürülebilir bir iklim mücadelesi mümkün değildir. Kadınlar, iklim değişikliğinin olumsuz etkilerinden orantısız şekilde etkilenirken, cinsiyet eşitliğinde %1'lik bir artış, iklim adaptasyonunda %0.8'lik bir gelişme sağlar. Gelişmiş ülkeler 2030 hedeflerine yaklaşırken, Orta Doğu ve Afrika’da verilerin şeffaf olmaması ve kadınların karar süreçlerinden dışlanması bu bölgelerdeki toparlanmayı yavaşlatıyor. İklim değişikliği, kadınların ekonomik fırsatlarına ve sosyal statülerine büyük ölçüde zarar vererek bu eşitsizliği derinleştiriyor. Eşit fırsatların sunulduğu ülkelerde daha etkili iklim politikaları geliştirilebilmektedir.</a:t>
            </a:r>
            <a:endParaRPr sz="2500">
              <a:latin typeface="Arial"/>
              <a:ea typeface="Arial"/>
              <a:cs typeface="Arial"/>
              <a:sym typeface="Arial"/>
            </a:endParaRPr>
          </a:p>
          <a:p>
            <a:pPr indent="0" lvl="0" marL="457200" rtl="0" algn="l">
              <a:spcBef>
                <a:spcPts val="1200"/>
              </a:spcBef>
              <a:spcAft>
                <a:spcPts val="0"/>
              </a:spcAft>
              <a:buNone/>
            </a:pPr>
            <a:r>
              <a:t/>
            </a:r>
            <a:endParaRPr sz="2500"/>
          </a:p>
          <a:p>
            <a:pPr indent="-327818" lvl="0" marL="457200" rtl="0" algn="l">
              <a:spcBef>
                <a:spcPts val="1200"/>
              </a:spcBef>
              <a:spcAft>
                <a:spcPts val="0"/>
              </a:spcAft>
              <a:buSzPct val="100000"/>
              <a:buFont typeface="Arial"/>
              <a:buChar char="-"/>
            </a:pPr>
            <a:r>
              <a:rPr lang="tr" sz="2500">
                <a:latin typeface="Arial"/>
                <a:ea typeface="Arial"/>
                <a:cs typeface="Arial"/>
                <a:sym typeface="Arial"/>
              </a:rPr>
              <a:t>Hükümetler ve uluslararası organizasyonlar, toplumsal cinsiyet eşitliğini güçlendiren politikalar oluşturarak, kadınların karar alma süreçlerine katılımını ve ekonomik kaynaklara erişimini artırmalıdır. Özellikle iklim adaptasyon projelerinde kadınların liderlik rolü teşvik edilmelidir. Ayrıca, Orta Doğu ve Afrika'da cinsiyet ve iklim değişikliği verilerinin şeffaf bir şekilde yayınlanması sağlanmalı ve bu bölgelerde uluslararası işbirliğiyle daha etkili çözümler geliştirilmelidir. Bu adımlar, iklim politikalarının daha kapsayıcı olmasını sağlayarak küresel hedeflere ulaşmayı hızlandıracaktır.</a:t>
            </a:r>
            <a:endParaRPr sz="2500">
              <a:latin typeface="Arial"/>
              <a:ea typeface="Arial"/>
              <a:cs typeface="Arial"/>
              <a:sym typeface="Arial"/>
            </a:endParaRPr>
          </a:p>
        </p:txBody>
      </p:sp>
      <p:pic>
        <p:nvPicPr>
          <p:cNvPr id="133" name="Google Shape;133;p18"/>
          <p:cNvPicPr preferRelativeResize="0"/>
          <p:nvPr/>
        </p:nvPicPr>
        <p:blipFill>
          <a:blip r:embed="rId3">
            <a:alphaModFix/>
          </a:blip>
          <a:stretch>
            <a:fillRect/>
          </a:stretch>
        </p:blipFill>
        <p:spPr>
          <a:xfrm>
            <a:off x="8825194" y="511375"/>
            <a:ext cx="307785" cy="587177"/>
          </a:xfrm>
          <a:prstGeom prst="rect">
            <a:avLst/>
          </a:prstGeom>
          <a:noFill/>
          <a:ln>
            <a:noFill/>
          </a:ln>
        </p:spPr>
      </p:pic>
      <p:pic>
        <p:nvPicPr>
          <p:cNvPr id="134" name="Google Shape;134;p18"/>
          <p:cNvPicPr preferRelativeResize="0"/>
          <p:nvPr/>
        </p:nvPicPr>
        <p:blipFill>
          <a:blip r:embed="rId4">
            <a:alphaModFix/>
          </a:blip>
          <a:stretch>
            <a:fillRect/>
          </a:stretch>
        </p:blipFill>
        <p:spPr>
          <a:xfrm>
            <a:off x="8814172" y="4514269"/>
            <a:ext cx="329825" cy="6292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3020">
                <a:latin typeface="Arial"/>
                <a:ea typeface="Arial"/>
                <a:cs typeface="Arial"/>
                <a:sym typeface="Arial"/>
              </a:rPr>
              <a:t>Kaynakça</a:t>
            </a:r>
            <a:endParaRPr sz="3020">
              <a:latin typeface="Arial"/>
              <a:ea typeface="Arial"/>
              <a:cs typeface="Arial"/>
              <a:sym typeface="Arial"/>
            </a:endParaRPr>
          </a:p>
        </p:txBody>
      </p:sp>
      <p:sp>
        <p:nvSpPr>
          <p:cNvPr id="140" name="Google Shape;140;p19"/>
          <p:cNvSpPr txBox="1"/>
          <p:nvPr>
            <p:ph idx="1" type="body"/>
          </p:nvPr>
        </p:nvSpPr>
        <p:spPr>
          <a:xfrm>
            <a:off x="729450" y="2078875"/>
            <a:ext cx="7688700" cy="492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b="1" lang="tr" sz="2000">
                <a:solidFill>
                  <a:srgbClr val="FF0000"/>
                </a:solidFill>
                <a:latin typeface="Arial"/>
                <a:ea typeface="Arial"/>
                <a:cs typeface="Arial"/>
                <a:sym typeface="Arial"/>
              </a:rPr>
              <a:t>GeoEqua Proje Demosu Youtube Linki: </a:t>
            </a:r>
            <a:r>
              <a:rPr b="1" lang="tr" sz="2000" u="sng">
                <a:solidFill>
                  <a:schemeClr val="hlink"/>
                </a:solidFill>
                <a:latin typeface="Arial"/>
                <a:ea typeface="Arial"/>
                <a:cs typeface="Arial"/>
                <a:sym typeface="Arial"/>
                <a:hlinkClick r:id="rId3"/>
              </a:rPr>
              <a:t>https://youtu.be/h8v0npSdwc8</a:t>
            </a:r>
            <a:endParaRPr sz="2000">
              <a:latin typeface="Arial"/>
              <a:ea typeface="Arial"/>
              <a:cs typeface="Arial"/>
              <a:sym typeface="Arial"/>
            </a:endParaRPr>
          </a:p>
          <a:p>
            <a:pPr indent="0" lvl="0" marL="0" rtl="0" algn="l">
              <a:lnSpc>
                <a:spcPct val="95000"/>
              </a:lnSpc>
              <a:spcBef>
                <a:spcPts val="1200"/>
              </a:spcBef>
              <a:spcAft>
                <a:spcPts val="0"/>
              </a:spcAft>
              <a:buSzPts val="275"/>
              <a:buNone/>
            </a:pPr>
            <a:r>
              <a:t/>
            </a:r>
            <a:endParaRPr sz="2000"/>
          </a:p>
          <a:p>
            <a:pPr indent="0" lvl="0" marL="457200" rtl="0" algn="l">
              <a:lnSpc>
                <a:spcPct val="95000"/>
              </a:lnSpc>
              <a:spcBef>
                <a:spcPts val="1200"/>
              </a:spcBef>
              <a:spcAft>
                <a:spcPts val="0"/>
              </a:spcAft>
              <a:buSzPts val="275"/>
              <a:buNone/>
            </a:pPr>
            <a:r>
              <a:t/>
            </a:r>
            <a:endParaRPr sz="2000"/>
          </a:p>
          <a:p>
            <a:pPr indent="0" lvl="0" marL="0" rtl="0" algn="l">
              <a:lnSpc>
                <a:spcPct val="95000"/>
              </a:lnSpc>
              <a:spcBef>
                <a:spcPts val="1200"/>
              </a:spcBef>
              <a:spcAft>
                <a:spcPts val="1200"/>
              </a:spcAft>
              <a:buSzPts val="275"/>
              <a:buNone/>
            </a:pPr>
            <a:r>
              <a:t/>
            </a:r>
            <a:endParaRPr sz="2000"/>
          </a:p>
        </p:txBody>
      </p:sp>
      <p:pic>
        <p:nvPicPr>
          <p:cNvPr id="141" name="Google Shape;141;p19"/>
          <p:cNvPicPr preferRelativeResize="0"/>
          <p:nvPr/>
        </p:nvPicPr>
        <p:blipFill>
          <a:blip r:embed="rId4">
            <a:alphaModFix/>
          </a:blip>
          <a:stretch>
            <a:fillRect/>
          </a:stretch>
        </p:blipFill>
        <p:spPr>
          <a:xfrm>
            <a:off x="7158950" y="764950"/>
            <a:ext cx="1845424" cy="1347150"/>
          </a:xfrm>
          <a:prstGeom prst="rect">
            <a:avLst/>
          </a:prstGeom>
          <a:noFill/>
          <a:ln>
            <a:noFill/>
          </a:ln>
        </p:spPr>
      </p:pic>
      <p:sp>
        <p:nvSpPr>
          <p:cNvPr id="142" name="Google Shape;142;p19"/>
          <p:cNvSpPr txBox="1"/>
          <p:nvPr/>
        </p:nvSpPr>
        <p:spPr>
          <a:xfrm>
            <a:off x="760525" y="2928650"/>
            <a:ext cx="7611900" cy="2008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GeoEqua project demo: </a:t>
            </a:r>
            <a:r>
              <a:rPr lang="tr" sz="1500" u="sng">
                <a:solidFill>
                  <a:schemeClr val="accent5"/>
                </a:solidFill>
                <a:hlinkClick r:id="rId5">
                  <a:extLst>
                    <a:ext uri="{A12FA001-AC4F-418D-AE19-62706E023703}">
                      <ahyp:hlinkClr val="tx"/>
                    </a:ext>
                  </a:extLst>
                </a:hlinkClick>
              </a:rPr>
              <a:t>https://geoequa.vercel.app/</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Github: </a:t>
            </a:r>
            <a:r>
              <a:rPr lang="tr" sz="1500" u="sng">
                <a:solidFill>
                  <a:schemeClr val="accent5"/>
                </a:solidFill>
                <a:hlinkClick r:id="rId6">
                  <a:extLst>
                    <a:ext uri="{A12FA001-AC4F-418D-AE19-62706E023703}">
                      <ahyp:hlinkClr val="tx"/>
                    </a:ext>
                  </a:extLst>
                </a:hlinkClick>
              </a:rPr>
              <a:t>https://github.com/macaris64/geoequa</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Lato"/>
              <a:buChar char="-"/>
            </a:pPr>
            <a:r>
              <a:rPr lang="tr" sz="1500">
                <a:solidFill>
                  <a:schemeClr val="accent1"/>
                </a:solidFill>
              </a:rPr>
              <a:t>NASA SEDAC: </a:t>
            </a:r>
            <a:r>
              <a:rPr lang="tr" sz="1500" u="sng">
                <a:solidFill>
                  <a:schemeClr val="accent5"/>
                </a:solidFill>
                <a:hlinkClick r:id="rId7">
                  <a:extLst>
                    <a:ext uri="{A12FA001-AC4F-418D-AE19-62706E023703}">
                      <ahyp:hlinkClr val="tx"/>
                    </a:ext>
                  </a:extLst>
                </a:hlinkClick>
              </a:rPr>
              <a:t>https://sedac.ciesin.columbia.edu/</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Lato"/>
              <a:buChar char="-"/>
            </a:pPr>
            <a:r>
              <a:rPr lang="tr" sz="1500">
                <a:solidFill>
                  <a:schemeClr val="accent1"/>
                </a:solidFill>
              </a:rPr>
              <a:t>NASA EarthData: </a:t>
            </a:r>
            <a:r>
              <a:rPr lang="tr" sz="1500" u="sng">
                <a:solidFill>
                  <a:schemeClr val="accent5"/>
                </a:solidFill>
                <a:hlinkClick r:id="rId8">
                  <a:extLst>
                    <a:ext uri="{A12FA001-AC4F-418D-AE19-62706E023703}">
                      <ahyp:hlinkClr val="tx"/>
                    </a:ext>
                  </a:extLst>
                </a:hlinkClick>
              </a:rPr>
              <a:t>https://search.earthdata.nasa.gov/</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UN 17 Goals: </a:t>
            </a:r>
            <a:r>
              <a:rPr lang="tr" sz="1500" u="sng">
                <a:solidFill>
                  <a:schemeClr val="accent5"/>
                </a:solidFill>
                <a:hlinkClick r:id="rId9">
                  <a:extLst>
                    <a:ext uri="{A12FA001-AC4F-418D-AE19-62706E023703}">
                      <ahyp:hlinkClr val="tx"/>
                    </a:ext>
                  </a:extLst>
                </a:hlinkClick>
              </a:rPr>
              <a:t>https://sdgs.un.org/goals</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UN Women: </a:t>
            </a:r>
            <a:r>
              <a:rPr lang="tr" sz="1500" u="sng">
                <a:solidFill>
                  <a:schemeClr val="accent5"/>
                </a:solidFill>
                <a:hlinkClick r:id="rId10">
                  <a:extLst>
                    <a:ext uri="{A12FA001-AC4F-418D-AE19-62706E023703}">
                      <ahyp:hlinkClr val="tx"/>
                    </a:ext>
                  </a:extLst>
                </a:hlinkClick>
              </a:rPr>
              <a:t>https://www.unwomen.org/en</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UN Data Portal: </a:t>
            </a:r>
            <a:r>
              <a:rPr lang="tr" sz="1500" u="sng">
                <a:solidFill>
                  <a:schemeClr val="accent5"/>
                </a:solidFill>
                <a:hlinkClick r:id="rId11">
                  <a:extLst>
                    <a:ext uri="{A12FA001-AC4F-418D-AE19-62706E023703}">
                      <ahyp:hlinkClr val="tx"/>
                    </a:ext>
                  </a:extLst>
                </a:hlinkClick>
              </a:rPr>
              <a:t>https://unstats.un.org/sdgs/dataportal/database</a:t>
            </a:r>
            <a:endParaRPr sz="1100">
              <a:solidFill>
                <a:schemeClr val="accen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