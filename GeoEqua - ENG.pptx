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Raleway"/>
      <p:regular r:id="rId13"/>
      <p:bold r:id="rId14"/>
      <p:italic r:id="rId15"/>
      <p:boldItalic r:id="rId16"/>
    </p:embeddedFont>
    <p:embeddedFont>
      <p:font typeface="Lat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aleway-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italic.fntdata"/><Relationship Id="rId14" Type="http://schemas.openxmlformats.org/officeDocument/2006/relationships/font" Target="fonts/Raleway-bold.fntdata"/><Relationship Id="rId17" Type="http://schemas.openxmlformats.org/officeDocument/2006/relationships/font" Target="fonts/Lato-regular.fntdata"/><Relationship Id="rId16" Type="http://schemas.openxmlformats.org/officeDocument/2006/relationships/font" Target="fonts/Raleway-boldItalic.fntdata"/><Relationship Id="rId5" Type="http://schemas.openxmlformats.org/officeDocument/2006/relationships/notesMaster" Target="notesMasters/notesMaster1.xml"/><Relationship Id="rId19" Type="http://schemas.openxmlformats.org/officeDocument/2006/relationships/font" Target="fonts/Lato-italic.fntdata"/><Relationship Id="rId6" Type="http://schemas.openxmlformats.org/officeDocument/2006/relationships/slide" Target="slides/slide1.xml"/><Relationship Id="rId18" Type="http://schemas.openxmlformats.org/officeDocument/2006/relationships/font" Target="fonts/La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c6f90357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c6f9035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d3e9d08dc4_0_68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d3e9d08dc4_0_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d3e9d08dc4_0_68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d3e9d08dc4_0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d3e9d08dc4_0_69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d3e9d08dc4_0_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d3e9d08dc4_0_69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d3e9d08dc4_0_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d3e9d08dc4_0_70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d3e9d08dc4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d3e9d08dc4_0_7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d3e9d08dc4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youtu.be/h8v0npSdwc8" TargetMode="External"/><Relationship Id="rId4" Type="http://schemas.openxmlformats.org/officeDocument/2006/relationships/image" Target="../media/image4.png"/><Relationship Id="rId11" Type="http://schemas.openxmlformats.org/officeDocument/2006/relationships/hyperlink" Target="https://unstats.un.org/sdgs/dataportal/database" TargetMode="External"/><Relationship Id="rId10" Type="http://schemas.openxmlformats.org/officeDocument/2006/relationships/hyperlink" Target="https://www.unwomen.org/en" TargetMode="External"/><Relationship Id="rId9" Type="http://schemas.openxmlformats.org/officeDocument/2006/relationships/hyperlink" Target="https://sdgs.un.org/goals" TargetMode="External"/><Relationship Id="rId5" Type="http://schemas.openxmlformats.org/officeDocument/2006/relationships/hyperlink" Target="https://geoequa.vercel.app/" TargetMode="External"/><Relationship Id="rId6" Type="http://schemas.openxmlformats.org/officeDocument/2006/relationships/hyperlink" Target="https://github.com/macaris64/geoequa" TargetMode="External"/><Relationship Id="rId7" Type="http://schemas.openxmlformats.org/officeDocument/2006/relationships/hyperlink" Target="https://sedac.ciesin.columbia.edu/" TargetMode="External"/><Relationship Id="rId8" Type="http://schemas.openxmlformats.org/officeDocument/2006/relationships/hyperlink" Target="https://search.earthdata.nasa.gov/"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625" y="2300200"/>
            <a:ext cx="7688100" cy="799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latin typeface="Arial"/>
                <a:ea typeface="Arial"/>
                <a:cs typeface="Arial"/>
                <a:sym typeface="Arial"/>
              </a:rPr>
              <a:t>GeoEqua</a:t>
            </a:r>
            <a:endParaRPr>
              <a:latin typeface="Arial"/>
              <a:ea typeface="Arial"/>
              <a:cs typeface="Arial"/>
              <a:sym typeface="Arial"/>
            </a:endParaRPr>
          </a:p>
        </p:txBody>
      </p:sp>
      <p:sp>
        <p:nvSpPr>
          <p:cNvPr id="87" name="Google Shape;87;p13"/>
          <p:cNvSpPr txBox="1"/>
          <p:nvPr>
            <p:ph idx="1" type="subTitle"/>
          </p:nvPr>
        </p:nvSpPr>
        <p:spPr>
          <a:xfrm>
            <a:off x="679352" y="429455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tr">
                <a:latin typeface="Arial"/>
                <a:ea typeface="Arial"/>
                <a:cs typeface="Arial"/>
                <a:sym typeface="Arial"/>
              </a:rPr>
              <a:t>Mehmet Acar - Yeşim Acar</a:t>
            </a:r>
            <a:endParaRPr b="1">
              <a:latin typeface="Arial"/>
              <a:ea typeface="Arial"/>
              <a:cs typeface="Arial"/>
              <a:sym typeface="Arial"/>
            </a:endParaRPr>
          </a:p>
        </p:txBody>
      </p:sp>
      <p:pic>
        <p:nvPicPr>
          <p:cNvPr id="88" name="Google Shape;88;p13"/>
          <p:cNvPicPr preferRelativeResize="0"/>
          <p:nvPr/>
        </p:nvPicPr>
        <p:blipFill>
          <a:blip r:embed="rId3">
            <a:alphaModFix/>
          </a:blip>
          <a:stretch>
            <a:fillRect/>
          </a:stretch>
        </p:blipFill>
        <p:spPr>
          <a:xfrm>
            <a:off x="7671825" y="497100"/>
            <a:ext cx="1436824" cy="1436824"/>
          </a:xfrm>
          <a:prstGeom prst="rect">
            <a:avLst/>
          </a:prstGeom>
          <a:noFill/>
          <a:ln>
            <a:noFill/>
          </a:ln>
        </p:spPr>
      </p:pic>
      <p:pic>
        <p:nvPicPr>
          <p:cNvPr id="89" name="Google Shape;89;p13"/>
          <p:cNvPicPr preferRelativeResize="0"/>
          <p:nvPr/>
        </p:nvPicPr>
        <p:blipFill>
          <a:blip r:embed="rId4">
            <a:alphaModFix/>
          </a:blip>
          <a:stretch>
            <a:fillRect/>
          </a:stretch>
        </p:blipFill>
        <p:spPr>
          <a:xfrm>
            <a:off x="6065450" y="497099"/>
            <a:ext cx="1473450" cy="1473450"/>
          </a:xfrm>
          <a:prstGeom prst="rect">
            <a:avLst/>
          </a:prstGeom>
          <a:noFill/>
          <a:ln>
            <a:noFill/>
          </a:ln>
        </p:spPr>
      </p:pic>
      <p:sp>
        <p:nvSpPr>
          <p:cNvPr id="90" name="Google Shape;90;p13"/>
          <p:cNvSpPr txBox="1"/>
          <p:nvPr>
            <p:ph type="ctrTitle"/>
          </p:nvPr>
        </p:nvSpPr>
        <p:spPr>
          <a:xfrm>
            <a:off x="6707150" y="4382650"/>
            <a:ext cx="2401500" cy="79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sz="1000">
                <a:latin typeface="Arial"/>
                <a:ea typeface="Arial"/>
                <a:cs typeface="Arial"/>
                <a:sym typeface="Arial"/>
              </a:rPr>
              <a:t>NASA Space Apps ‘24</a:t>
            </a:r>
            <a:endParaRPr sz="1000">
              <a:latin typeface="Arial"/>
              <a:ea typeface="Arial"/>
              <a:cs typeface="Arial"/>
              <a:sym typeface="Arial"/>
            </a:endParaRPr>
          </a:p>
          <a:p>
            <a:pPr indent="0" lvl="0" marL="0" rtl="0" algn="l">
              <a:spcBef>
                <a:spcPts val="0"/>
              </a:spcBef>
              <a:spcAft>
                <a:spcPts val="0"/>
              </a:spcAft>
              <a:buNone/>
            </a:pPr>
            <a:r>
              <a:rPr lang="tr" sz="1000">
                <a:latin typeface="Arial"/>
                <a:ea typeface="Arial"/>
                <a:cs typeface="Arial"/>
                <a:sym typeface="Arial"/>
              </a:rPr>
              <a:t>Gender and Climate Challenge</a:t>
            </a:r>
            <a:endParaRPr sz="100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4020">
                <a:latin typeface="Arial"/>
                <a:ea typeface="Arial"/>
                <a:cs typeface="Arial"/>
                <a:sym typeface="Arial"/>
              </a:rPr>
              <a:t>GeoEqua</a:t>
            </a:r>
            <a:endParaRPr sz="4020">
              <a:latin typeface="Arial"/>
              <a:ea typeface="Arial"/>
              <a:cs typeface="Arial"/>
              <a:sym typeface="Arial"/>
            </a:endParaRPr>
          </a:p>
        </p:txBody>
      </p:sp>
      <p:sp>
        <p:nvSpPr>
          <p:cNvPr id="96" name="Google Shape;96;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20000"/>
          </a:bodyPr>
          <a:lstStyle/>
          <a:p>
            <a:pPr indent="0" lvl="0" marL="457200" rtl="0" algn="l">
              <a:spcBef>
                <a:spcPts val="0"/>
              </a:spcBef>
              <a:spcAft>
                <a:spcPts val="0"/>
              </a:spcAft>
              <a:buNone/>
            </a:pPr>
            <a:r>
              <a:t/>
            </a:r>
            <a:endParaRPr sz="2500"/>
          </a:p>
          <a:p>
            <a:pPr indent="0" lvl="0" marL="0" rtl="0" algn="l">
              <a:spcBef>
                <a:spcPts val="1200"/>
              </a:spcBef>
              <a:spcAft>
                <a:spcPts val="0"/>
              </a:spcAft>
              <a:buNone/>
            </a:pPr>
            <a:r>
              <a:rPr lang="tr" sz="2500">
                <a:latin typeface="Arial"/>
                <a:ea typeface="Arial"/>
                <a:cs typeface="Arial"/>
                <a:sym typeface="Arial"/>
              </a:rPr>
              <a:t>GeoEqua is a web platform that analyzes the relationship between gender inequality and climate change.</a:t>
            </a:r>
            <a:endParaRPr sz="2500">
              <a:latin typeface="Arial"/>
              <a:ea typeface="Arial"/>
              <a:cs typeface="Arial"/>
              <a:sym typeface="Arial"/>
            </a:endParaRPr>
          </a:p>
          <a:p>
            <a:pPr indent="0" lvl="0" marL="457200" rtl="0" algn="l">
              <a:spcBef>
                <a:spcPts val="1200"/>
              </a:spcBef>
              <a:spcAft>
                <a:spcPts val="1200"/>
              </a:spcAft>
              <a:buNone/>
            </a:pPr>
            <a:r>
              <a:t/>
            </a:r>
            <a:endParaRPr/>
          </a:p>
        </p:txBody>
      </p:sp>
      <p:pic>
        <p:nvPicPr>
          <p:cNvPr id="97" name="Google Shape;97;p14"/>
          <p:cNvPicPr preferRelativeResize="0"/>
          <p:nvPr/>
        </p:nvPicPr>
        <p:blipFill>
          <a:blip r:embed="rId3">
            <a:alphaModFix/>
          </a:blip>
          <a:stretch>
            <a:fillRect/>
          </a:stretch>
        </p:blipFill>
        <p:spPr>
          <a:xfrm>
            <a:off x="7788800" y="0"/>
            <a:ext cx="1392475" cy="1392475"/>
          </a:xfrm>
          <a:prstGeom prst="rect">
            <a:avLst/>
          </a:prstGeom>
          <a:noFill/>
          <a:ln>
            <a:noFill/>
          </a:ln>
        </p:spPr>
      </p:pic>
      <p:pic>
        <p:nvPicPr>
          <p:cNvPr id="98" name="Google Shape;98;p14"/>
          <p:cNvPicPr preferRelativeResize="0"/>
          <p:nvPr/>
        </p:nvPicPr>
        <p:blipFill>
          <a:blip r:embed="rId4">
            <a:alphaModFix/>
          </a:blip>
          <a:stretch>
            <a:fillRect/>
          </a:stretch>
        </p:blipFill>
        <p:spPr>
          <a:xfrm>
            <a:off x="3295600" y="1"/>
            <a:ext cx="5801974" cy="2470376"/>
          </a:xfrm>
          <a:prstGeom prst="rect">
            <a:avLst/>
          </a:prstGeom>
          <a:noFill/>
          <a:ln>
            <a:noFill/>
          </a:ln>
        </p:spPr>
      </p:pic>
      <p:pic>
        <p:nvPicPr>
          <p:cNvPr id="99" name="Google Shape;99;p14"/>
          <p:cNvPicPr preferRelativeResize="0"/>
          <p:nvPr/>
        </p:nvPicPr>
        <p:blipFill>
          <a:blip r:embed="rId5">
            <a:alphaModFix/>
          </a:blip>
          <a:stretch>
            <a:fillRect/>
          </a:stretch>
        </p:blipFill>
        <p:spPr>
          <a:xfrm>
            <a:off x="5792325" y="3747075"/>
            <a:ext cx="1360935" cy="1094074"/>
          </a:xfrm>
          <a:prstGeom prst="rect">
            <a:avLst/>
          </a:prstGeom>
          <a:noFill/>
          <a:ln>
            <a:noFill/>
          </a:ln>
        </p:spPr>
      </p:pic>
      <p:pic>
        <p:nvPicPr>
          <p:cNvPr id="100" name="Google Shape;100;p14"/>
          <p:cNvPicPr preferRelativeResize="0"/>
          <p:nvPr/>
        </p:nvPicPr>
        <p:blipFill>
          <a:blip r:embed="rId6">
            <a:alphaModFix/>
          </a:blip>
          <a:stretch>
            <a:fillRect/>
          </a:stretch>
        </p:blipFill>
        <p:spPr>
          <a:xfrm>
            <a:off x="7473415" y="3747075"/>
            <a:ext cx="1360935" cy="10940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5"/>
          <p:cNvSpPr txBox="1"/>
          <p:nvPr>
            <p:ph idx="1" type="body"/>
          </p:nvPr>
        </p:nvSpPr>
        <p:spPr>
          <a:xfrm>
            <a:off x="906775" y="4424025"/>
            <a:ext cx="7688700" cy="584400"/>
          </a:xfrm>
          <a:prstGeom prst="rect">
            <a:avLst/>
          </a:prstGeom>
        </p:spPr>
        <p:txBody>
          <a:bodyPr anchorCtr="0" anchor="t" bIns="91425" lIns="91425" spcFirstLastPara="1" rIns="91425" wrap="square" tIns="91425">
            <a:noAutofit/>
          </a:bodyPr>
          <a:lstStyle/>
          <a:p>
            <a:pPr indent="0" lvl="0" marL="457200" rtl="0" algn="l">
              <a:lnSpc>
                <a:spcPct val="95000"/>
              </a:lnSpc>
              <a:spcBef>
                <a:spcPts val="0"/>
              </a:spcBef>
              <a:spcAft>
                <a:spcPts val="1200"/>
              </a:spcAft>
              <a:buSzPts val="688"/>
              <a:buNone/>
            </a:pPr>
            <a:r>
              <a:rPr lang="tr" sz="1612">
                <a:latin typeface="Arial"/>
                <a:ea typeface="Arial"/>
                <a:cs typeface="Arial"/>
                <a:sym typeface="Arial"/>
              </a:rPr>
              <a:t>Users can view country and age-based data through graphs and tables and examine the relationships between these two global issues.</a:t>
            </a:r>
            <a:endParaRPr sz="812"/>
          </a:p>
        </p:txBody>
      </p:sp>
      <p:pic>
        <p:nvPicPr>
          <p:cNvPr id="106" name="Google Shape;106;p15"/>
          <p:cNvPicPr preferRelativeResize="0"/>
          <p:nvPr/>
        </p:nvPicPr>
        <p:blipFill>
          <a:blip r:embed="rId3">
            <a:alphaModFix/>
          </a:blip>
          <a:stretch>
            <a:fillRect/>
          </a:stretch>
        </p:blipFill>
        <p:spPr>
          <a:xfrm>
            <a:off x="7788800" y="0"/>
            <a:ext cx="1392475" cy="1392475"/>
          </a:xfrm>
          <a:prstGeom prst="rect">
            <a:avLst/>
          </a:prstGeom>
          <a:noFill/>
          <a:ln>
            <a:noFill/>
          </a:ln>
        </p:spPr>
      </p:pic>
      <p:pic>
        <p:nvPicPr>
          <p:cNvPr id="107" name="Google Shape;107;p15"/>
          <p:cNvPicPr preferRelativeResize="0"/>
          <p:nvPr/>
        </p:nvPicPr>
        <p:blipFill>
          <a:blip r:embed="rId4">
            <a:alphaModFix/>
          </a:blip>
          <a:stretch>
            <a:fillRect/>
          </a:stretch>
        </p:blipFill>
        <p:spPr>
          <a:xfrm>
            <a:off x="766600" y="0"/>
            <a:ext cx="8339000" cy="2907249"/>
          </a:xfrm>
          <a:prstGeom prst="rect">
            <a:avLst/>
          </a:prstGeom>
          <a:noFill/>
          <a:ln>
            <a:noFill/>
          </a:ln>
        </p:spPr>
      </p:pic>
      <p:sp>
        <p:nvSpPr>
          <p:cNvPr id="108" name="Google Shape;108;p15"/>
          <p:cNvSpPr txBox="1"/>
          <p:nvPr>
            <p:ph type="title"/>
          </p:nvPr>
        </p:nvSpPr>
        <p:spPr>
          <a:xfrm>
            <a:off x="766600" y="30789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4020">
                <a:latin typeface="Arial"/>
                <a:ea typeface="Arial"/>
                <a:cs typeface="Arial"/>
                <a:sym typeface="Arial"/>
              </a:rPr>
              <a:t>Data Visualization and Interactive Analysis</a:t>
            </a:r>
            <a:endParaRPr sz="4020">
              <a:latin typeface="Arial"/>
              <a:ea typeface="Arial"/>
              <a:cs typeface="Arial"/>
              <a:sym typeface="Arial"/>
            </a:endParaRPr>
          </a:p>
        </p:txBody>
      </p:sp>
      <p:pic>
        <p:nvPicPr>
          <p:cNvPr id="109" name="Google Shape;109;p15"/>
          <p:cNvPicPr preferRelativeResize="0"/>
          <p:nvPr/>
        </p:nvPicPr>
        <p:blipFill>
          <a:blip r:embed="rId5">
            <a:alphaModFix/>
          </a:blip>
          <a:stretch>
            <a:fillRect/>
          </a:stretch>
        </p:blipFill>
        <p:spPr>
          <a:xfrm>
            <a:off x="7572200" y="2969400"/>
            <a:ext cx="1392475" cy="13924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6"/>
          <p:cNvSpPr txBox="1"/>
          <p:nvPr>
            <p:ph type="title"/>
          </p:nvPr>
        </p:nvSpPr>
        <p:spPr>
          <a:xfrm>
            <a:off x="651575" y="531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3020">
                <a:latin typeface="Arial"/>
                <a:ea typeface="Arial"/>
                <a:cs typeface="Arial"/>
                <a:sym typeface="Arial"/>
              </a:rPr>
              <a:t>GeoAI Assistant</a:t>
            </a:r>
            <a:endParaRPr sz="3020">
              <a:latin typeface="Arial"/>
              <a:ea typeface="Arial"/>
              <a:cs typeface="Arial"/>
              <a:sym typeface="Arial"/>
            </a:endParaRPr>
          </a:p>
        </p:txBody>
      </p:sp>
      <p:pic>
        <p:nvPicPr>
          <p:cNvPr id="115" name="Google Shape;115;p16"/>
          <p:cNvPicPr preferRelativeResize="0"/>
          <p:nvPr/>
        </p:nvPicPr>
        <p:blipFill>
          <a:blip r:embed="rId3">
            <a:alphaModFix/>
          </a:blip>
          <a:stretch>
            <a:fillRect/>
          </a:stretch>
        </p:blipFill>
        <p:spPr>
          <a:xfrm>
            <a:off x="3575524" y="1893425"/>
            <a:ext cx="5498752" cy="3176275"/>
          </a:xfrm>
          <a:prstGeom prst="rect">
            <a:avLst/>
          </a:prstGeom>
          <a:noFill/>
          <a:ln>
            <a:noFill/>
          </a:ln>
        </p:spPr>
      </p:pic>
      <p:sp>
        <p:nvSpPr>
          <p:cNvPr id="116" name="Google Shape;116;p16"/>
          <p:cNvSpPr txBox="1"/>
          <p:nvPr>
            <p:ph type="title"/>
          </p:nvPr>
        </p:nvSpPr>
        <p:spPr>
          <a:xfrm>
            <a:off x="727650" y="130542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0" lang="tr" sz="1520">
                <a:latin typeface="Arial"/>
                <a:ea typeface="Arial"/>
                <a:cs typeface="Arial"/>
                <a:sym typeface="Arial"/>
              </a:rPr>
              <a:t>GeoAI interprets the data of the topic selected by the user from the web interface.</a:t>
            </a:r>
            <a:endParaRPr b="0" sz="1520">
              <a:latin typeface="Arial"/>
              <a:ea typeface="Arial"/>
              <a:cs typeface="Arial"/>
              <a:sym typeface="Arial"/>
            </a:endParaRPr>
          </a:p>
          <a:p>
            <a:pPr indent="0" lvl="0" marL="0" rtl="0" algn="l">
              <a:spcBef>
                <a:spcPts val="0"/>
              </a:spcBef>
              <a:spcAft>
                <a:spcPts val="0"/>
              </a:spcAft>
              <a:buSzPts val="990"/>
              <a:buNone/>
            </a:pPr>
            <a:r>
              <a:t/>
            </a:r>
            <a:endParaRPr sz="3020"/>
          </a:p>
        </p:txBody>
      </p:sp>
      <p:sp>
        <p:nvSpPr>
          <p:cNvPr id="117" name="Google Shape;117;p16"/>
          <p:cNvSpPr txBox="1"/>
          <p:nvPr>
            <p:ph type="title"/>
          </p:nvPr>
        </p:nvSpPr>
        <p:spPr>
          <a:xfrm>
            <a:off x="771500" y="1893425"/>
            <a:ext cx="2757300" cy="311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0" lang="tr" sz="1520">
                <a:latin typeface="Arial"/>
                <a:ea typeface="Arial"/>
                <a:cs typeface="Arial"/>
                <a:sym typeface="Arial"/>
              </a:rPr>
              <a:t>Users contacts GeoAI with questions on climate change and gender inequality.</a:t>
            </a:r>
            <a:endParaRPr b="0" sz="1520">
              <a:latin typeface="Arial"/>
              <a:ea typeface="Arial"/>
              <a:cs typeface="Arial"/>
              <a:sym typeface="Arial"/>
            </a:endParaRPr>
          </a:p>
          <a:p>
            <a:pPr indent="0" lvl="0" marL="0" rtl="0" algn="l">
              <a:spcBef>
                <a:spcPts val="0"/>
              </a:spcBef>
              <a:spcAft>
                <a:spcPts val="0"/>
              </a:spcAft>
              <a:buSzPts val="990"/>
              <a:buNone/>
            </a:pPr>
            <a:r>
              <a:t/>
            </a:r>
            <a:endParaRPr b="0" sz="1520"/>
          </a:p>
          <a:p>
            <a:pPr indent="0" lvl="0" marL="0" rtl="0" algn="l">
              <a:spcBef>
                <a:spcPts val="0"/>
              </a:spcBef>
              <a:spcAft>
                <a:spcPts val="0"/>
              </a:spcAft>
              <a:buSzPts val="990"/>
              <a:buNone/>
            </a:pPr>
            <a:r>
              <a:rPr b="0" lang="tr" sz="1520">
                <a:latin typeface="Arial"/>
                <a:ea typeface="Arial"/>
                <a:cs typeface="Arial"/>
                <a:sym typeface="Arial"/>
              </a:rPr>
              <a:t>Thanks to this communication, users obtain meaningful results from the questions they ask.</a:t>
            </a:r>
            <a:endParaRPr b="0" sz="1520">
              <a:latin typeface="Arial"/>
              <a:ea typeface="Arial"/>
              <a:cs typeface="Arial"/>
              <a:sym typeface="Arial"/>
            </a:endParaRPr>
          </a:p>
          <a:p>
            <a:pPr indent="0" lvl="0" marL="0" rtl="0" algn="l">
              <a:spcBef>
                <a:spcPts val="0"/>
              </a:spcBef>
              <a:spcAft>
                <a:spcPts val="0"/>
              </a:spcAft>
              <a:buSzPts val="990"/>
              <a:buNone/>
            </a:pPr>
            <a:r>
              <a:t/>
            </a:r>
            <a:endParaRPr b="0" sz="1520"/>
          </a:p>
        </p:txBody>
      </p:sp>
      <p:pic>
        <p:nvPicPr>
          <p:cNvPr id="118" name="Google Shape;118;p16"/>
          <p:cNvPicPr preferRelativeResize="0"/>
          <p:nvPr/>
        </p:nvPicPr>
        <p:blipFill>
          <a:blip r:embed="rId4">
            <a:alphaModFix/>
          </a:blip>
          <a:stretch>
            <a:fillRect/>
          </a:stretch>
        </p:blipFill>
        <p:spPr>
          <a:xfrm>
            <a:off x="7857400" y="531975"/>
            <a:ext cx="1216875" cy="1216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7"/>
          <p:cNvSpPr txBox="1"/>
          <p:nvPr>
            <p:ph type="title"/>
          </p:nvPr>
        </p:nvSpPr>
        <p:spPr>
          <a:xfrm>
            <a:off x="727650" y="5027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4020">
                <a:latin typeface="Arial"/>
                <a:ea typeface="Arial"/>
                <a:cs typeface="Arial"/>
                <a:sym typeface="Arial"/>
              </a:rPr>
              <a:t>Sustainable Solution Suggestions</a:t>
            </a:r>
            <a:endParaRPr sz="4020">
              <a:latin typeface="Arial"/>
              <a:ea typeface="Arial"/>
              <a:cs typeface="Arial"/>
              <a:sym typeface="Arial"/>
            </a:endParaRPr>
          </a:p>
        </p:txBody>
      </p:sp>
      <p:pic>
        <p:nvPicPr>
          <p:cNvPr id="124" name="Google Shape;124;p17"/>
          <p:cNvPicPr preferRelativeResize="0"/>
          <p:nvPr/>
        </p:nvPicPr>
        <p:blipFill>
          <a:blip r:embed="rId3">
            <a:alphaModFix/>
          </a:blip>
          <a:stretch>
            <a:fillRect/>
          </a:stretch>
        </p:blipFill>
        <p:spPr>
          <a:xfrm>
            <a:off x="69701" y="2571750"/>
            <a:ext cx="4044201" cy="2318301"/>
          </a:xfrm>
          <a:prstGeom prst="rect">
            <a:avLst/>
          </a:prstGeom>
          <a:noFill/>
          <a:ln>
            <a:noFill/>
          </a:ln>
        </p:spPr>
      </p:pic>
      <p:sp>
        <p:nvSpPr>
          <p:cNvPr id="125" name="Google Shape;125;p17"/>
          <p:cNvSpPr txBox="1"/>
          <p:nvPr>
            <p:ph type="title"/>
          </p:nvPr>
        </p:nvSpPr>
        <p:spPr>
          <a:xfrm>
            <a:off x="4371550" y="1862350"/>
            <a:ext cx="4503900" cy="298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0" lang="tr" sz="2920">
                <a:latin typeface="Arial"/>
                <a:ea typeface="Arial"/>
                <a:cs typeface="Arial"/>
                <a:sym typeface="Arial"/>
              </a:rPr>
              <a:t>GeoEqua provides insights to develop integrated policies on gender inequality and climate change.</a:t>
            </a:r>
            <a:endParaRPr b="0" sz="2920">
              <a:latin typeface="Arial"/>
              <a:ea typeface="Arial"/>
              <a:cs typeface="Arial"/>
              <a:sym typeface="Arial"/>
            </a:endParaRPr>
          </a:p>
        </p:txBody>
      </p:sp>
      <p:pic>
        <p:nvPicPr>
          <p:cNvPr id="126" name="Google Shape;126;p17"/>
          <p:cNvPicPr preferRelativeResize="0"/>
          <p:nvPr/>
        </p:nvPicPr>
        <p:blipFill>
          <a:blip r:embed="rId4">
            <a:alphaModFix/>
          </a:blip>
          <a:stretch>
            <a:fillRect/>
          </a:stretch>
        </p:blipFill>
        <p:spPr>
          <a:xfrm>
            <a:off x="8134750" y="1086525"/>
            <a:ext cx="915651" cy="9156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ph type="title"/>
          </p:nvPr>
        </p:nvSpPr>
        <p:spPr>
          <a:xfrm>
            <a:off x="727650" y="5113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3020">
                <a:latin typeface="Arial"/>
                <a:ea typeface="Arial"/>
                <a:cs typeface="Arial"/>
                <a:sym typeface="Arial"/>
              </a:rPr>
              <a:t>Conclusions and Recommendations</a:t>
            </a:r>
            <a:endParaRPr sz="3020">
              <a:latin typeface="Arial"/>
              <a:ea typeface="Arial"/>
              <a:cs typeface="Arial"/>
              <a:sym typeface="Arial"/>
            </a:endParaRPr>
          </a:p>
        </p:txBody>
      </p:sp>
      <p:sp>
        <p:nvSpPr>
          <p:cNvPr id="132" name="Google Shape;132;p18"/>
          <p:cNvSpPr txBox="1"/>
          <p:nvPr>
            <p:ph idx="1" type="body"/>
          </p:nvPr>
        </p:nvSpPr>
        <p:spPr>
          <a:xfrm>
            <a:off x="0" y="1234350"/>
            <a:ext cx="9144000" cy="4188900"/>
          </a:xfrm>
          <a:prstGeom prst="rect">
            <a:avLst/>
          </a:prstGeom>
        </p:spPr>
        <p:txBody>
          <a:bodyPr anchorCtr="0" anchor="t" bIns="91425" lIns="91425" spcFirstLastPara="1" rIns="91425" wrap="square" tIns="91425">
            <a:normAutofit fontScale="62500" lnSpcReduction="20000"/>
          </a:bodyPr>
          <a:lstStyle/>
          <a:p>
            <a:pPr indent="-323850" lvl="0" marL="457200" rtl="0" algn="l">
              <a:spcBef>
                <a:spcPts val="0"/>
              </a:spcBef>
              <a:spcAft>
                <a:spcPts val="0"/>
              </a:spcAft>
              <a:buSzPct val="100000"/>
              <a:buFont typeface="Arial"/>
              <a:buChar char="-"/>
            </a:pPr>
            <a:r>
              <a:rPr lang="tr" sz="2400">
                <a:latin typeface="Arial"/>
                <a:ea typeface="Arial"/>
                <a:cs typeface="Arial"/>
                <a:sym typeface="Arial"/>
              </a:rPr>
              <a:t>Sustainable climate action is not possible without gender equality. While women are disproportionately affected by the negative impacts of climate change, a 1% increase in gender equality provides a 0.8% improvement in climate adaptation. As developed countries approach their 2030 targets, the lack of transparency of data and the exclusion of women from decision-making processes in the Middle East and Africa are slowing down recovery in these regions. Climate change deepens this inequality by significantly harming women’s economic opportunities and social status. More effective climate policies can be developed in countries where equal opportunities are provided.</a:t>
            </a:r>
            <a:endParaRPr sz="2400">
              <a:latin typeface="Arial"/>
              <a:ea typeface="Arial"/>
              <a:cs typeface="Arial"/>
              <a:sym typeface="Arial"/>
            </a:endParaRPr>
          </a:p>
          <a:p>
            <a:pPr indent="0" lvl="0" marL="457200" rtl="0" algn="l">
              <a:spcBef>
                <a:spcPts val="1200"/>
              </a:spcBef>
              <a:spcAft>
                <a:spcPts val="0"/>
              </a:spcAft>
              <a:buNone/>
            </a:pPr>
            <a:r>
              <a:t/>
            </a:r>
            <a:endParaRPr sz="2500">
              <a:latin typeface="Arial"/>
              <a:ea typeface="Arial"/>
              <a:cs typeface="Arial"/>
              <a:sym typeface="Arial"/>
            </a:endParaRPr>
          </a:p>
          <a:p>
            <a:pPr indent="-323850" lvl="0" marL="457200" rtl="0" algn="l">
              <a:spcBef>
                <a:spcPts val="1200"/>
              </a:spcBef>
              <a:spcAft>
                <a:spcPts val="0"/>
              </a:spcAft>
              <a:buSzPct val="100000"/>
              <a:buFont typeface="Arial"/>
              <a:buChar char="-"/>
            </a:pPr>
            <a:r>
              <a:rPr lang="tr" sz="2400">
                <a:latin typeface="Arial"/>
                <a:ea typeface="Arial"/>
                <a:cs typeface="Arial"/>
                <a:sym typeface="Arial"/>
              </a:rPr>
              <a:t>Governments and international organizations should increase women’s participation in decision-making processes and access to economic resources by creating policies that strengthen gender equality. Women’s leadership role should be encouraged, especially in climate adaptation projects. In addition, gender and climate change data should be published transparently in the Middle East and Africa, and more effective solutions should be developed through international cooperation in these regions. These steps will accelerate the achievement of global goals by ensuring that climate policies are more inclusive.</a:t>
            </a:r>
            <a:endParaRPr sz="2400">
              <a:latin typeface="Arial"/>
              <a:ea typeface="Arial"/>
              <a:cs typeface="Arial"/>
              <a:sym typeface="Arial"/>
            </a:endParaRPr>
          </a:p>
        </p:txBody>
      </p:sp>
      <p:pic>
        <p:nvPicPr>
          <p:cNvPr id="133" name="Google Shape;133;p18"/>
          <p:cNvPicPr preferRelativeResize="0"/>
          <p:nvPr/>
        </p:nvPicPr>
        <p:blipFill>
          <a:blip r:embed="rId3">
            <a:alphaModFix/>
          </a:blip>
          <a:stretch>
            <a:fillRect/>
          </a:stretch>
        </p:blipFill>
        <p:spPr>
          <a:xfrm>
            <a:off x="8825194" y="511375"/>
            <a:ext cx="307785" cy="587177"/>
          </a:xfrm>
          <a:prstGeom prst="rect">
            <a:avLst/>
          </a:prstGeom>
          <a:noFill/>
          <a:ln>
            <a:noFill/>
          </a:ln>
        </p:spPr>
      </p:pic>
      <p:pic>
        <p:nvPicPr>
          <p:cNvPr id="134" name="Google Shape;134;p18"/>
          <p:cNvPicPr preferRelativeResize="0"/>
          <p:nvPr/>
        </p:nvPicPr>
        <p:blipFill>
          <a:blip r:embed="rId4">
            <a:alphaModFix/>
          </a:blip>
          <a:stretch>
            <a:fillRect/>
          </a:stretch>
        </p:blipFill>
        <p:spPr>
          <a:xfrm>
            <a:off x="8814172" y="4514269"/>
            <a:ext cx="329825" cy="62923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3020">
                <a:latin typeface="Arial"/>
                <a:ea typeface="Arial"/>
                <a:cs typeface="Arial"/>
                <a:sym typeface="Arial"/>
              </a:rPr>
              <a:t>References</a:t>
            </a:r>
            <a:endParaRPr sz="3020">
              <a:latin typeface="Arial"/>
              <a:ea typeface="Arial"/>
              <a:cs typeface="Arial"/>
              <a:sym typeface="Arial"/>
            </a:endParaRPr>
          </a:p>
        </p:txBody>
      </p:sp>
      <p:sp>
        <p:nvSpPr>
          <p:cNvPr id="140" name="Google Shape;140;p19"/>
          <p:cNvSpPr txBox="1"/>
          <p:nvPr>
            <p:ph idx="1" type="body"/>
          </p:nvPr>
        </p:nvSpPr>
        <p:spPr>
          <a:xfrm>
            <a:off x="729450" y="2078875"/>
            <a:ext cx="7688700" cy="492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b="1" lang="tr" sz="2000">
                <a:solidFill>
                  <a:srgbClr val="FF0000"/>
                </a:solidFill>
                <a:latin typeface="Arial"/>
                <a:ea typeface="Arial"/>
                <a:cs typeface="Arial"/>
                <a:sym typeface="Arial"/>
              </a:rPr>
              <a:t>GeoEqua Project Demo Youtube Link: </a:t>
            </a:r>
            <a:r>
              <a:rPr b="1" lang="tr" sz="2000" u="sng">
                <a:solidFill>
                  <a:schemeClr val="hlink"/>
                </a:solidFill>
                <a:latin typeface="Arial"/>
                <a:ea typeface="Arial"/>
                <a:cs typeface="Arial"/>
                <a:sym typeface="Arial"/>
                <a:hlinkClick r:id="rId3"/>
              </a:rPr>
              <a:t>https://youtu.be/h8v0npSdwc8</a:t>
            </a:r>
            <a:endParaRPr sz="2000">
              <a:latin typeface="Arial"/>
              <a:ea typeface="Arial"/>
              <a:cs typeface="Arial"/>
              <a:sym typeface="Arial"/>
            </a:endParaRPr>
          </a:p>
          <a:p>
            <a:pPr indent="0" lvl="0" marL="0" rtl="0" algn="l">
              <a:lnSpc>
                <a:spcPct val="95000"/>
              </a:lnSpc>
              <a:spcBef>
                <a:spcPts val="1200"/>
              </a:spcBef>
              <a:spcAft>
                <a:spcPts val="0"/>
              </a:spcAft>
              <a:buSzPts val="275"/>
              <a:buNone/>
            </a:pPr>
            <a:r>
              <a:t/>
            </a:r>
            <a:endParaRPr sz="2000"/>
          </a:p>
          <a:p>
            <a:pPr indent="0" lvl="0" marL="457200" rtl="0" algn="l">
              <a:lnSpc>
                <a:spcPct val="95000"/>
              </a:lnSpc>
              <a:spcBef>
                <a:spcPts val="1200"/>
              </a:spcBef>
              <a:spcAft>
                <a:spcPts val="0"/>
              </a:spcAft>
              <a:buSzPts val="275"/>
              <a:buNone/>
            </a:pPr>
            <a:r>
              <a:t/>
            </a:r>
            <a:endParaRPr sz="2000"/>
          </a:p>
          <a:p>
            <a:pPr indent="0" lvl="0" marL="0" rtl="0" algn="l">
              <a:lnSpc>
                <a:spcPct val="95000"/>
              </a:lnSpc>
              <a:spcBef>
                <a:spcPts val="1200"/>
              </a:spcBef>
              <a:spcAft>
                <a:spcPts val="1200"/>
              </a:spcAft>
              <a:buSzPts val="275"/>
              <a:buNone/>
            </a:pPr>
            <a:r>
              <a:t/>
            </a:r>
            <a:endParaRPr sz="2000"/>
          </a:p>
        </p:txBody>
      </p:sp>
      <p:pic>
        <p:nvPicPr>
          <p:cNvPr id="141" name="Google Shape;141;p19"/>
          <p:cNvPicPr preferRelativeResize="0"/>
          <p:nvPr/>
        </p:nvPicPr>
        <p:blipFill>
          <a:blip r:embed="rId4">
            <a:alphaModFix/>
          </a:blip>
          <a:stretch>
            <a:fillRect/>
          </a:stretch>
        </p:blipFill>
        <p:spPr>
          <a:xfrm>
            <a:off x="7158950" y="764950"/>
            <a:ext cx="1845424" cy="1347150"/>
          </a:xfrm>
          <a:prstGeom prst="rect">
            <a:avLst/>
          </a:prstGeom>
          <a:noFill/>
          <a:ln>
            <a:noFill/>
          </a:ln>
        </p:spPr>
      </p:pic>
      <p:sp>
        <p:nvSpPr>
          <p:cNvPr id="142" name="Google Shape;142;p19"/>
          <p:cNvSpPr txBox="1"/>
          <p:nvPr/>
        </p:nvSpPr>
        <p:spPr>
          <a:xfrm>
            <a:off x="760525" y="2928650"/>
            <a:ext cx="7611900" cy="20088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0"/>
              </a:spcBef>
              <a:spcAft>
                <a:spcPts val="0"/>
              </a:spcAft>
              <a:buClr>
                <a:schemeClr val="accent1"/>
              </a:buClr>
              <a:buSzPts val="1500"/>
              <a:buFont typeface="Arial"/>
              <a:buChar char="-"/>
            </a:pPr>
            <a:r>
              <a:rPr lang="tr" sz="1500">
                <a:solidFill>
                  <a:schemeClr val="accent1"/>
                </a:solidFill>
              </a:rPr>
              <a:t>GeoEqua project demo: </a:t>
            </a:r>
            <a:r>
              <a:rPr lang="tr" sz="1500" u="sng">
                <a:solidFill>
                  <a:schemeClr val="accent5"/>
                </a:solidFill>
                <a:hlinkClick r:id="rId5">
                  <a:extLst>
                    <a:ext uri="{A12FA001-AC4F-418D-AE19-62706E023703}">
                      <ahyp:hlinkClr val="tx"/>
                    </a:ext>
                  </a:extLst>
                </a:hlinkClick>
              </a:rPr>
              <a:t>https://geoequa.vercel.app/</a:t>
            </a:r>
            <a:endParaRPr sz="1500">
              <a:solidFill>
                <a:schemeClr val="accent1"/>
              </a:solidFill>
            </a:endParaRPr>
          </a:p>
          <a:p>
            <a:pPr indent="-323850" lvl="0" marL="457200" rtl="0" algn="l">
              <a:lnSpc>
                <a:spcPct val="115000"/>
              </a:lnSpc>
              <a:spcBef>
                <a:spcPts val="0"/>
              </a:spcBef>
              <a:spcAft>
                <a:spcPts val="0"/>
              </a:spcAft>
              <a:buClr>
                <a:schemeClr val="accent1"/>
              </a:buClr>
              <a:buSzPts val="1500"/>
              <a:buFont typeface="Arial"/>
              <a:buChar char="-"/>
            </a:pPr>
            <a:r>
              <a:rPr lang="tr" sz="1500">
                <a:solidFill>
                  <a:schemeClr val="accent1"/>
                </a:solidFill>
              </a:rPr>
              <a:t>Github: </a:t>
            </a:r>
            <a:r>
              <a:rPr lang="tr" sz="1500" u="sng">
                <a:solidFill>
                  <a:schemeClr val="accent5"/>
                </a:solidFill>
                <a:hlinkClick r:id="rId6">
                  <a:extLst>
                    <a:ext uri="{A12FA001-AC4F-418D-AE19-62706E023703}">
                      <ahyp:hlinkClr val="tx"/>
                    </a:ext>
                  </a:extLst>
                </a:hlinkClick>
              </a:rPr>
              <a:t>https://github.com/macaris64/geoequa</a:t>
            </a:r>
            <a:endParaRPr sz="1500">
              <a:solidFill>
                <a:schemeClr val="accent1"/>
              </a:solidFill>
            </a:endParaRPr>
          </a:p>
          <a:p>
            <a:pPr indent="-323850" lvl="0" marL="457200" rtl="0" algn="l">
              <a:lnSpc>
                <a:spcPct val="115000"/>
              </a:lnSpc>
              <a:spcBef>
                <a:spcPts val="0"/>
              </a:spcBef>
              <a:spcAft>
                <a:spcPts val="0"/>
              </a:spcAft>
              <a:buClr>
                <a:schemeClr val="accent1"/>
              </a:buClr>
              <a:buSzPts val="1500"/>
              <a:buFont typeface="Lato"/>
              <a:buChar char="-"/>
            </a:pPr>
            <a:r>
              <a:rPr lang="tr" sz="1500">
                <a:solidFill>
                  <a:schemeClr val="accent1"/>
                </a:solidFill>
              </a:rPr>
              <a:t>NASA SEDAC: </a:t>
            </a:r>
            <a:r>
              <a:rPr lang="tr" sz="1500" u="sng">
                <a:solidFill>
                  <a:schemeClr val="accent5"/>
                </a:solidFill>
                <a:hlinkClick r:id="rId7">
                  <a:extLst>
                    <a:ext uri="{A12FA001-AC4F-418D-AE19-62706E023703}">
                      <ahyp:hlinkClr val="tx"/>
                    </a:ext>
                  </a:extLst>
                </a:hlinkClick>
              </a:rPr>
              <a:t>https://sedac.ciesin.columbia.edu/</a:t>
            </a:r>
            <a:endParaRPr sz="1500">
              <a:solidFill>
                <a:schemeClr val="accent1"/>
              </a:solidFill>
            </a:endParaRPr>
          </a:p>
          <a:p>
            <a:pPr indent="-323850" lvl="0" marL="457200" rtl="0" algn="l">
              <a:lnSpc>
                <a:spcPct val="115000"/>
              </a:lnSpc>
              <a:spcBef>
                <a:spcPts val="0"/>
              </a:spcBef>
              <a:spcAft>
                <a:spcPts val="0"/>
              </a:spcAft>
              <a:buClr>
                <a:schemeClr val="accent1"/>
              </a:buClr>
              <a:buSzPts val="1500"/>
              <a:buFont typeface="Lato"/>
              <a:buChar char="-"/>
            </a:pPr>
            <a:r>
              <a:rPr lang="tr" sz="1500">
                <a:solidFill>
                  <a:schemeClr val="accent1"/>
                </a:solidFill>
              </a:rPr>
              <a:t>NASA EarthData: </a:t>
            </a:r>
            <a:r>
              <a:rPr lang="tr" sz="1500" u="sng">
                <a:solidFill>
                  <a:schemeClr val="accent5"/>
                </a:solidFill>
                <a:hlinkClick r:id="rId8">
                  <a:extLst>
                    <a:ext uri="{A12FA001-AC4F-418D-AE19-62706E023703}">
                      <ahyp:hlinkClr val="tx"/>
                    </a:ext>
                  </a:extLst>
                </a:hlinkClick>
              </a:rPr>
              <a:t>https://search.earthdata.nasa.gov/</a:t>
            </a:r>
            <a:endParaRPr sz="1500">
              <a:solidFill>
                <a:schemeClr val="accent1"/>
              </a:solidFill>
            </a:endParaRPr>
          </a:p>
          <a:p>
            <a:pPr indent="-323850" lvl="0" marL="457200" rtl="0" algn="l">
              <a:lnSpc>
                <a:spcPct val="115000"/>
              </a:lnSpc>
              <a:spcBef>
                <a:spcPts val="0"/>
              </a:spcBef>
              <a:spcAft>
                <a:spcPts val="0"/>
              </a:spcAft>
              <a:buClr>
                <a:schemeClr val="accent1"/>
              </a:buClr>
              <a:buSzPts val="1500"/>
              <a:buFont typeface="Arial"/>
              <a:buChar char="-"/>
            </a:pPr>
            <a:r>
              <a:rPr lang="tr" sz="1500">
                <a:solidFill>
                  <a:schemeClr val="accent1"/>
                </a:solidFill>
              </a:rPr>
              <a:t>UN 17 Goals: </a:t>
            </a:r>
            <a:r>
              <a:rPr lang="tr" sz="1500" u="sng">
                <a:solidFill>
                  <a:schemeClr val="accent5"/>
                </a:solidFill>
                <a:hlinkClick r:id="rId9">
                  <a:extLst>
                    <a:ext uri="{A12FA001-AC4F-418D-AE19-62706E023703}">
                      <ahyp:hlinkClr val="tx"/>
                    </a:ext>
                  </a:extLst>
                </a:hlinkClick>
              </a:rPr>
              <a:t>https://sdgs.un.org/goals</a:t>
            </a:r>
            <a:endParaRPr sz="1500">
              <a:solidFill>
                <a:schemeClr val="accent1"/>
              </a:solidFill>
            </a:endParaRPr>
          </a:p>
          <a:p>
            <a:pPr indent="-323850" lvl="0" marL="457200" rtl="0" algn="l">
              <a:lnSpc>
                <a:spcPct val="115000"/>
              </a:lnSpc>
              <a:spcBef>
                <a:spcPts val="0"/>
              </a:spcBef>
              <a:spcAft>
                <a:spcPts val="0"/>
              </a:spcAft>
              <a:buClr>
                <a:schemeClr val="accent1"/>
              </a:buClr>
              <a:buSzPts val="1500"/>
              <a:buFont typeface="Arial"/>
              <a:buChar char="-"/>
            </a:pPr>
            <a:r>
              <a:rPr lang="tr" sz="1500">
                <a:solidFill>
                  <a:schemeClr val="accent1"/>
                </a:solidFill>
              </a:rPr>
              <a:t>UN Women: </a:t>
            </a:r>
            <a:r>
              <a:rPr lang="tr" sz="1500" u="sng">
                <a:solidFill>
                  <a:schemeClr val="accent5"/>
                </a:solidFill>
                <a:hlinkClick r:id="rId10">
                  <a:extLst>
                    <a:ext uri="{A12FA001-AC4F-418D-AE19-62706E023703}">
                      <ahyp:hlinkClr val="tx"/>
                    </a:ext>
                  </a:extLst>
                </a:hlinkClick>
              </a:rPr>
              <a:t>https://www.unwomen.org/en</a:t>
            </a:r>
            <a:endParaRPr sz="1500">
              <a:solidFill>
                <a:schemeClr val="accent1"/>
              </a:solidFill>
            </a:endParaRPr>
          </a:p>
          <a:p>
            <a:pPr indent="-323850" lvl="0" marL="457200" rtl="0" algn="l">
              <a:lnSpc>
                <a:spcPct val="115000"/>
              </a:lnSpc>
              <a:spcBef>
                <a:spcPts val="0"/>
              </a:spcBef>
              <a:spcAft>
                <a:spcPts val="0"/>
              </a:spcAft>
              <a:buClr>
                <a:schemeClr val="accent1"/>
              </a:buClr>
              <a:buSzPts val="1500"/>
              <a:buFont typeface="Arial"/>
              <a:buChar char="-"/>
            </a:pPr>
            <a:r>
              <a:rPr lang="tr" sz="1500">
                <a:solidFill>
                  <a:schemeClr val="accent1"/>
                </a:solidFill>
              </a:rPr>
              <a:t>UN Data Portal: </a:t>
            </a:r>
            <a:r>
              <a:rPr lang="tr" sz="1500" u="sng">
                <a:solidFill>
                  <a:schemeClr val="accent5"/>
                </a:solidFill>
                <a:hlinkClick r:id="rId11">
                  <a:extLst>
                    <a:ext uri="{A12FA001-AC4F-418D-AE19-62706E023703}">
                      <ahyp:hlinkClr val="tx"/>
                    </a:ext>
                  </a:extLst>
                </a:hlinkClick>
              </a:rPr>
              <a:t>https://unstats.un.org/sdgs/dataportal/database</a:t>
            </a:r>
            <a:endParaRPr sz="1500">
              <a:solidFill>
                <a:schemeClr val="accen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